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36576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565C0"/>
                </a:solidFill>
                <a:latin typeface="Calibri"/>
              </a:rPr>
              <a:t>CODA Companion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566928"/>
            <a:ext cx="8686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5555"/>
                </a:solidFill>
                <a:latin typeface="Calibri"/>
              </a:rPr>
              <a:t>AI-Powered Playbook Intelligence for Developer &amp; Technical Teams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886968"/>
            <a:ext cx="11978640" cy="2011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950976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2121"/>
                </a:solidFill>
                <a:latin typeface="Calibri"/>
              </a:rPr>
              <a:t>Current Situation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1280160"/>
            <a:ext cx="3520440" cy="10149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3736" y="1618488"/>
            <a:ext cx="256032" cy="2560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1353312"/>
            <a:ext cx="3044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Calibri"/>
              </a:rPr>
              <a:t>FY25 Merger Projects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1737360"/>
            <a:ext cx="3044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5555"/>
                </a:solidFill>
                <a:latin typeface="Calibri"/>
              </a:rPr>
              <a:t>PeopleSoft &amp; Enterprise Applications Consolidated in MNL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" y="2350008"/>
            <a:ext cx="3520440" cy="10149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3736" y="2688336"/>
            <a:ext cx="256032" cy="2560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2423160"/>
            <a:ext cx="3044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Calibri"/>
              </a:rPr>
              <a:t>4 to 5 Playbooks per Requirement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" y="2807208"/>
            <a:ext cx="3044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5555"/>
                </a:solidFill>
                <a:latin typeface="Calibri"/>
              </a:rPr>
              <a:t>Reviewed manually per merger event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" y="3419856"/>
            <a:ext cx="3520440" cy="10149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3736" y="3758184"/>
            <a:ext cx="256032" cy="2560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" y="3493008"/>
            <a:ext cx="3044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Calibri"/>
              </a:rPr>
              <a:t>60-80+ Hours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" y="3877056"/>
            <a:ext cx="3044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5555"/>
                </a:solidFill>
                <a:latin typeface="Calibri"/>
              </a:rPr>
              <a:t>Impact analysis time per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" y="4489704"/>
            <a:ext cx="3520440" cy="10149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3736" y="4828032"/>
            <a:ext cx="256032" cy="2560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" y="4562856"/>
            <a:ext cx="3044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Calibri"/>
              </a:rPr>
              <a:t>Complex Documentation Ecosystem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" y="4946904"/>
            <a:ext cx="3044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5555"/>
                </a:solidFill>
                <a:latin typeface="Calibri"/>
              </a:rPr>
              <a:t>30+ application playbooks supporting developer teams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950976"/>
            <a:ext cx="4251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2121"/>
                </a:solidFill>
                <a:latin typeface="Calibri"/>
              </a:rPr>
              <a:t>Challenges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49039" y="1280160"/>
            <a:ext cx="4251960" cy="429768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212121"/>
                </a:solidFill>
                <a:latin typeface="Calibri"/>
              </a:rPr>
              <a:t>Time-Intensive Manual Playbook Review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49039" y="1773936"/>
            <a:ext cx="4251960" cy="429768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212121"/>
                </a:solidFill>
                <a:latin typeface="Calibri"/>
              </a:rPr>
              <a:t>Inconsistent Impact Assessment Across Teams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49039" y="2267712"/>
            <a:ext cx="4251960" cy="429768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212121"/>
                </a:solidFill>
                <a:latin typeface="Calibri"/>
              </a:rPr>
              <a:t>Risk of Missed Changes &amp; Delays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2871216"/>
            <a:ext cx="4251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Calibri"/>
              </a:rPr>
              <a:t>Solution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49039" y="3200400"/>
            <a:ext cx="4251960" cy="402336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212121"/>
                </a:solidFill>
                <a:latin typeface="Calibri"/>
              </a:rPr>
              <a:t>AI-Powered Requirement Analysis &amp; Indexing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49039" y="3666744"/>
            <a:ext cx="4251960" cy="402336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212121"/>
                </a:solidFill>
                <a:latin typeface="Calibri"/>
              </a:rPr>
              <a:t>Automated Application Impact Identification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49039" y="4133088"/>
            <a:ext cx="4251960" cy="402336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212121"/>
                </a:solidFill>
                <a:latin typeface="Calibri"/>
              </a:rPr>
              <a:t>Clear Developer-Focused Impact Reports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49039" y="4599432"/>
            <a:ext cx="4251960" cy="402336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212121"/>
                </a:solidFill>
                <a:latin typeface="Calibri"/>
              </a:rPr>
              <a:t>Conversational AI for Knowledge Exploration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79" y="950976"/>
            <a:ext cx="3886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  <a:latin typeface="Calibri"/>
              </a:rPr>
              <a:t>With CODA Companion, we're not just reading playbooks,</a:t>
            </a:r>
          </a:p>
          <a:p>
            <a:pPr algn="l"/>
            <a:r>
              <a:rPr sz="1300" b="1" i="0">
                <a:solidFill>
                  <a:srgbClr val="1A237E"/>
                </a:solidFill>
                <a:latin typeface="Calibri"/>
              </a:rPr>
              <a:t>we're building a SMARTER path to delivery.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83879" y="2432304"/>
            <a:ext cx="3886200" cy="3227832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48471" y="2660904"/>
            <a:ext cx="35570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37E"/>
                </a:solidFill>
                <a:latin typeface="Calibri"/>
              </a:rPr>
              <a:t>AI  Assistant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8471" y="3255264"/>
            <a:ext cx="35570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A237E"/>
                </a:solidFill>
                <a:latin typeface="Calibri"/>
              </a:rPr>
              <a:t>How may I assist you?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93607" y="5001768"/>
            <a:ext cx="1737360" cy="47548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85047" y="5038344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CODA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5632704"/>
            <a:ext cx="12188952" cy="2011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" y="56692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2121"/>
                </a:solidFill>
                <a:latin typeface="Calibri"/>
              </a:rPr>
              <a:t>Outcomes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" y="6016752"/>
            <a:ext cx="2898648" cy="62179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🚀 Accelerated Delivery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54096" y="6016752"/>
            <a:ext cx="2898648" cy="62179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✅ Higher Quality &amp; Consistency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16752" y="6016752"/>
            <a:ext cx="2898648" cy="621792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⚠️ Reduced Risk &amp; Rework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79408" y="6016752"/>
            <a:ext cx="2898648" cy="62179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📋 Predictable &amp; Scalable Outcomes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